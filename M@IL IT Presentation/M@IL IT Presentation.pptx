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9"/>
  </p:notesMasterIdLst>
  <p:handoutMasterIdLst>
    <p:handoutMasterId r:id="rId10"/>
  </p:handoutMasterIdLst>
  <p:sldIdLst>
    <p:sldId id="289" r:id="rId5"/>
    <p:sldId id="286" r:id="rId6"/>
    <p:sldId id="280" r:id="rId7"/>
    <p:sldId id="27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70"/>
  </p:normalViewPr>
  <p:slideViewPr>
    <p:cSldViewPr snapToGrid="0">
      <p:cViewPr>
        <p:scale>
          <a:sx n="65" d="100"/>
          <a:sy n="65" d="100"/>
        </p:scale>
        <p:origin x="32" y="-20"/>
      </p:cViewPr>
      <p:guideLst>
        <p:guide pos="3840"/>
        <p:guide orient="horz" pos="216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20AE1-5DBC-4417-A73B-5F29B67C532C}" type="datetimeFigureOut">
              <a:rPr lang="en-US" smtClean="0"/>
              <a:t>8/22/2026</a:t>
            </a:fld>
            <a:endParaRPr lang="en-US" dirty="0"/>
          </a:p>
        </p:txBody>
      </p:sp>
      <p:sp>
        <p:nvSpPr>
          <p:cNvPr id="4" name="Footer Placeholder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22411-A9A9-4A09-A341-69C657AB42A1}" type="slidenum">
              <a:rPr lang="en-US" smtClean="0"/>
              <a:t>‹#›</a:t>
            </a:fld>
            <a:endParaRPr lang="en-U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8/22/2026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2</a:t>
            </a:fld>
            <a:endParaRPr lang="en-US" dirty="0"/>
          </a:p>
        </p:txBody>
      </p:sp>
    </p:spTree>
    <p:extLst>
      <p:ext uri="{BB962C8B-B14F-4D97-AF65-F5344CB8AC3E}">
        <p14:creationId xmlns:p14="http://schemas.microsoft.com/office/powerpoint/2010/main" val="5284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3</a:t>
            </a:fld>
            <a:endParaRPr lang="en-US" dirty="0"/>
          </a:p>
        </p:txBody>
      </p:sp>
    </p:spTree>
    <p:extLst>
      <p:ext uri="{BB962C8B-B14F-4D97-AF65-F5344CB8AC3E}">
        <p14:creationId xmlns:p14="http://schemas.microsoft.com/office/powerpoint/2010/main" val="3762868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4</a:t>
            </a:fld>
            <a:endParaRPr lang="en-US" dirty="0"/>
          </a:p>
        </p:txBody>
      </p:sp>
    </p:spTree>
    <p:extLst>
      <p:ext uri="{BB962C8B-B14F-4D97-AF65-F5344CB8AC3E}">
        <p14:creationId xmlns:p14="http://schemas.microsoft.com/office/powerpoint/2010/main" val="2868485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8B91F7B-C4AF-4FC6-A6BE-657DEF6D5358}"/>
              </a:ext>
            </a:extLst>
          </p:cNvPr>
          <p:cNvSpPr>
            <a:spLocks noGrp="1"/>
          </p:cNvSpPr>
          <p:nvPr>
            <p:ph type="dt" sz="half" idx="10"/>
          </p:nvPr>
        </p:nvSpPr>
        <p:spPr/>
        <p:txBody>
          <a:bodyPr/>
          <a:lstStyle/>
          <a:p>
            <a:fld id="{8DA08ED5-AEFE-4443-9040-726EF6690995}" type="datetime1">
              <a:rPr lang="en-US" smtClean="0"/>
              <a:t>8/22/2026</a:t>
            </a:fld>
            <a:endParaRPr lang="en-US" dirty="0"/>
          </a:p>
        </p:txBody>
      </p:sp>
      <p:sp>
        <p:nvSpPr>
          <p:cNvPr id="5" name="Footer Placeholder 4">
            <a:extLst>
              <a:ext uri="{FF2B5EF4-FFF2-40B4-BE49-F238E27FC236}">
                <a16:creationId xmlns:a16="http://schemas.microsoft.com/office/drawing/2014/main" id="{5BED32F8-B0C7-4332-B0A5-BC19DD8C4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1141-A77D-4E0E-8CAF-4CD3B279937B}"/>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17EFDE0-5A54-402A-B0C3-6BC0BB739C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825AD-4585-4E37-A076-3D0070C9300C}"/>
              </a:ext>
            </a:extLst>
          </p:cNvPr>
          <p:cNvSpPr>
            <a:spLocks noGrp="1"/>
          </p:cNvSpPr>
          <p:nvPr>
            <p:ph type="dt" sz="half" idx="10"/>
          </p:nvPr>
        </p:nvSpPr>
        <p:spPr/>
        <p:txBody>
          <a:bodyPr/>
          <a:lstStyle/>
          <a:p>
            <a:fld id="{0312561F-7E45-400C-8758-912CDFE9410A}" type="datetime1">
              <a:rPr lang="en-US" smtClean="0"/>
              <a:t>8/22/2026</a:t>
            </a:fld>
            <a:endParaRPr lang="en-US" dirty="0"/>
          </a:p>
        </p:txBody>
      </p:sp>
      <p:sp>
        <p:nvSpPr>
          <p:cNvPr id="5" name="Footer Placeholder 4">
            <a:extLst>
              <a:ext uri="{FF2B5EF4-FFF2-40B4-BE49-F238E27FC236}">
                <a16:creationId xmlns:a16="http://schemas.microsoft.com/office/drawing/2014/main" id="{512064AD-EDC3-4B13-8CD6-49EB60099E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D83DC-20E7-4B71-9794-36FC33B1BA03}"/>
              </a:ext>
            </a:extLst>
          </p:cNvPr>
          <p:cNvSpPr>
            <a:spLocks noGrp="1"/>
          </p:cNvSpPr>
          <p:nvPr>
            <p:ph type="dt" sz="half" idx="10"/>
          </p:nvPr>
        </p:nvSpPr>
        <p:spPr/>
        <p:txBody>
          <a:bodyPr/>
          <a:lstStyle/>
          <a:p>
            <a:fld id="{85E24BC7-4CDB-41D7-81AF-9CE8473FF4B8}" type="datetime1">
              <a:rPr lang="en-US" smtClean="0"/>
              <a:t>8/22/2026</a:t>
            </a:fld>
            <a:endParaRPr lang="en-US" dirty="0"/>
          </a:p>
        </p:txBody>
      </p:sp>
      <p:sp>
        <p:nvSpPr>
          <p:cNvPr id="5" name="Footer Placeholder 4">
            <a:extLst>
              <a:ext uri="{FF2B5EF4-FFF2-40B4-BE49-F238E27FC236}">
                <a16:creationId xmlns:a16="http://schemas.microsoft.com/office/drawing/2014/main" id="{44E7D103-1290-4592-B37C-19C9C9DBEA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8/22/2026</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8/22/2026</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9EF5-3FD9-4423-A9E8-B67B4E902E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0D7191-31B4-440E-A4E9-F412FA55824C}"/>
              </a:ext>
            </a:extLst>
          </p:cNvPr>
          <p:cNvSpPr>
            <a:spLocks noGrp="1"/>
          </p:cNvSpPr>
          <p:nvPr>
            <p:ph type="dt" sz="half" idx="10"/>
          </p:nvPr>
        </p:nvSpPr>
        <p:spPr/>
        <p:txBody>
          <a:bodyPr/>
          <a:lstStyle/>
          <a:p>
            <a:fld id="{4BE4379E-9B58-41EA-B928-5B1C8436A60E}" type="datetime1">
              <a:rPr lang="en-US" smtClean="0"/>
              <a:t>8/22/2026</a:t>
            </a:fld>
            <a:endParaRPr lang="en-US" dirty="0"/>
          </a:p>
        </p:txBody>
      </p:sp>
      <p:sp>
        <p:nvSpPr>
          <p:cNvPr id="4" name="Footer Placeholder 3">
            <a:extLst>
              <a:ext uri="{FF2B5EF4-FFF2-40B4-BE49-F238E27FC236}">
                <a16:creationId xmlns:a16="http://schemas.microsoft.com/office/drawing/2014/main" id="{8EC85CB6-0880-4BF0-8E98-291E70C71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5C546-684A-45B9-8890-66DC55DF7D06}"/>
              </a:ext>
            </a:extLst>
          </p:cNvPr>
          <p:cNvSpPr>
            <a:spLocks noGrp="1"/>
          </p:cNvSpPr>
          <p:nvPr>
            <p:ph type="dt" sz="half" idx="10"/>
          </p:nvPr>
        </p:nvSpPr>
        <p:spPr/>
        <p:txBody>
          <a:bodyPr/>
          <a:lstStyle/>
          <a:p>
            <a:fld id="{40B0A371-51FE-4D99-BD87-6A650FCE519D}" type="datetime1">
              <a:rPr lang="en-US" smtClean="0"/>
              <a:t>8/22/2026</a:t>
            </a:fld>
            <a:endParaRPr lang="en-US" dirty="0"/>
          </a:p>
        </p:txBody>
      </p:sp>
      <p:sp>
        <p:nvSpPr>
          <p:cNvPr id="3" name="Footer Placeholder 2">
            <a:extLst>
              <a:ext uri="{FF2B5EF4-FFF2-40B4-BE49-F238E27FC236}">
                <a16:creationId xmlns:a16="http://schemas.microsoft.com/office/drawing/2014/main" id="{4543EBDF-D696-42F7-B962-56F5FEE120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a:lstStyle/>
          <a:p>
            <a:fld id="{82EE24B5-652C-4DB5-B7C3-B5BBEC1280B1}" type="slidenum">
              <a:rPr lang="en-US" noProof="0" smtClean="0"/>
              <a:t>‹#›</a:t>
            </a:fld>
            <a:endParaRPr lang="en-US" noProof="0" dirty="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9DE91-7A80-4682-9D32-2CD41DEFB7B2}"/>
              </a:ext>
            </a:extLst>
          </p:cNvPr>
          <p:cNvSpPr>
            <a:spLocks noGrp="1"/>
          </p:cNvSpPr>
          <p:nvPr>
            <p:ph type="dt" sz="half" idx="10"/>
          </p:nvPr>
        </p:nvSpPr>
        <p:spPr/>
        <p:txBody>
          <a:bodyPr/>
          <a:lstStyle/>
          <a:p>
            <a:fld id="{5FCF8CFF-A1C0-4B6C-AA8D-BE72CB14468D}" type="datetime1">
              <a:rPr lang="en-US" smtClean="0"/>
              <a:t>8/22/2026</a:t>
            </a:fld>
            <a:endParaRPr lang="en-US" dirty="0"/>
          </a:p>
        </p:txBody>
      </p:sp>
      <p:sp>
        <p:nvSpPr>
          <p:cNvPr id="6" name="Footer Placeholder 5">
            <a:extLst>
              <a:ext uri="{FF2B5EF4-FFF2-40B4-BE49-F238E27FC236}">
                <a16:creationId xmlns:a16="http://schemas.microsoft.com/office/drawing/2014/main" id="{7B9E2482-2E7D-4868-95A7-4A55B40FE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8/22/2026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36744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Horisontal Content">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E4FD2CFF-0F3D-42BB-BBFF-903727B32640}"/>
              </a:ext>
            </a:extLst>
          </p:cNvPr>
          <p:cNvSpPr/>
          <p:nvPr userDrawn="1"/>
        </p:nvSpPr>
        <p:spPr>
          <a:xfrm>
            <a:off x="0" y="1562188"/>
            <a:ext cx="11269980" cy="2359660"/>
          </a:xfrm>
          <a:custGeom>
            <a:avLst/>
            <a:gdLst/>
            <a:ahLst/>
            <a:cxnLst/>
            <a:rect l="l" t="t" r="r" b="b"/>
            <a:pathLst>
              <a:path w="11269980" h="2359660">
                <a:moveTo>
                  <a:pt x="0" y="2359152"/>
                </a:moveTo>
                <a:lnTo>
                  <a:pt x="11269980" y="2359152"/>
                </a:lnTo>
                <a:lnTo>
                  <a:pt x="11269980" y="0"/>
                </a:lnTo>
                <a:lnTo>
                  <a:pt x="0" y="0"/>
                </a:lnTo>
                <a:lnTo>
                  <a:pt x="0" y="2359152"/>
                </a:lnTo>
                <a:close/>
              </a:path>
            </a:pathLst>
          </a:custGeom>
          <a:solidFill>
            <a:schemeClr val="accent2"/>
          </a:solidFill>
        </p:spPr>
        <p:txBody>
          <a:bodyPr wrap="square" lIns="0" tIns="0" rIns="0" bIns="0" rtlCol="0"/>
          <a:lstStyle/>
          <a:p>
            <a:endParaRPr lang="en-US" noProof="0" dirty="0"/>
          </a:p>
        </p:txBody>
      </p:sp>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4133087"/>
            <a:ext cx="10431780" cy="2043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8/22/2026</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
        <p:nvSpPr>
          <p:cNvPr id="9" name="Content Placeholder 3">
            <a:extLst>
              <a:ext uri="{FF2B5EF4-FFF2-40B4-BE49-F238E27FC236}">
                <a16:creationId xmlns:a16="http://schemas.microsoft.com/office/drawing/2014/main" id="{C1B0D46C-2987-401A-A0C4-CFB6F73E9D23}"/>
              </a:ext>
            </a:extLst>
          </p:cNvPr>
          <p:cNvSpPr>
            <a:spLocks noGrp="1"/>
          </p:cNvSpPr>
          <p:nvPr>
            <p:ph sz="half" idx="13"/>
          </p:nvPr>
        </p:nvSpPr>
        <p:spPr>
          <a:xfrm>
            <a:off x="844296" y="1788579"/>
            <a:ext cx="10425684" cy="190687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8197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8/22/2026</a:t>
            </a:fld>
            <a:endParaRPr lang="en-US" noProof="0" dirty="0"/>
          </a:p>
        </p:txBody>
      </p:sp>
      <p:sp>
        <p:nvSpPr>
          <p:cNvPr id="5" name="Footer Placeholder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descr="Blue rectangle">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endParaRPr lang="en-US" dirty="0"/>
          </a:p>
        </p:txBody>
      </p:sp>
      <p:sp>
        <p:nvSpPr>
          <p:cNvPr id="4" name="object 3" descr="People with documents">
            <a:extLst>
              <a:ext uri="{FF2B5EF4-FFF2-40B4-BE49-F238E27FC236}">
                <a16:creationId xmlns:a16="http://schemas.microsoft.com/office/drawing/2014/main" id="{0CA2E80D-F3EC-4A5F-8E65-56FEA206EE0F}"/>
              </a:ext>
            </a:extLst>
          </p:cNvPr>
          <p:cNvSpPr/>
          <p:nvPr/>
        </p:nvSpPr>
        <p:spPr>
          <a:xfrm>
            <a:off x="127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AFB6C91D-4B22-49F1-9A0B-ABEB9E1F5A26}"/>
              </a:ext>
            </a:extLst>
          </p:cNvPr>
          <p:cNvSpPr>
            <a:spLocks noGrp="1"/>
          </p:cNvSpPr>
          <p:nvPr>
            <p:ph type="ctrTitle"/>
          </p:nvPr>
        </p:nvSpPr>
        <p:spPr>
          <a:xfrm>
            <a:off x="1522476" y="411007"/>
            <a:ext cx="9144000" cy="2128049"/>
          </a:xfrm>
        </p:spPr>
        <p:txBody>
          <a:bodyPr>
            <a:normAutofit/>
          </a:bodyPr>
          <a:lstStyle/>
          <a:p>
            <a:pPr>
              <a:lnSpc>
                <a:spcPct val="125000"/>
              </a:lnSpc>
            </a:pPr>
            <a:r>
              <a:rPr lang="en-US" dirty="0">
                <a:latin typeface="Gill Sans MT" panose="020B0502020104020203" pitchFamily="34" charset="0"/>
              </a:rPr>
              <a:t>Pentagon Prime’s</a:t>
            </a:r>
            <a:br>
              <a:rPr lang="en-US" sz="5000" dirty="0">
                <a:solidFill>
                  <a:schemeClr val="bg1"/>
                </a:solidFill>
                <a:latin typeface="Gill Sans MT" panose="020B0502020104020203" pitchFamily="34" charset="0"/>
              </a:rPr>
            </a:br>
            <a:r>
              <a:rPr lang="en-US" sz="5000" dirty="0">
                <a:solidFill>
                  <a:schemeClr val="bg1"/>
                </a:solidFill>
                <a:latin typeface="Gill Sans MT" panose="020B0502020104020203" pitchFamily="34" charset="0"/>
              </a:rPr>
              <a:t>M@IL IT</a:t>
            </a:r>
          </a:p>
        </p:txBody>
      </p:sp>
      <p:sp>
        <p:nvSpPr>
          <p:cNvPr id="3" name="Subtitle 2">
            <a:extLst>
              <a:ext uri="{FF2B5EF4-FFF2-40B4-BE49-F238E27FC236}">
                <a16:creationId xmlns:a16="http://schemas.microsoft.com/office/drawing/2014/main" id="{2F8CF06A-B594-4BA2-8B1E-D649096D742F}"/>
              </a:ext>
            </a:extLst>
          </p:cNvPr>
          <p:cNvSpPr>
            <a:spLocks noGrp="1"/>
          </p:cNvSpPr>
          <p:nvPr>
            <p:ph type="subTitle" idx="1"/>
          </p:nvPr>
        </p:nvSpPr>
        <p:spPr>
          <a:xfrm>
            <a:off x="3108000" y="4031924"/>
            <a:ext cx="5139484" cy="1021855"/>
          </a:xfrm>
          <a:solidFill>
            <a:schemeClr val="accent2">
              <a:alpha val="90000"/>
            </a:schemeClr>
          </a:solidFill>
        </p:spPr>
        <p:txBody>
          <a:bodyPr anchor="ctr" anchorCtr="0">
            <a:normAutofit/>
          </a:bodyPr>
          <a:lstStyle/>
          <a:p>
            <a:r>
              <a:rPr lang="en-US" dirty="0"/>
              <a:t>Simpler Email </a:t>
            </a:r>
            <a:r>
              <a:rPr lang="en-US" sz="2500" b="1" i="1" spc="65" dirty="0">
                <a:solidFill>
                  <a:schemeClr val="accent1"/>
                </a:solidFill>
                <a:latin typeface="Arial"/>
                <a:cs typeface="Arial"/>
              </a:rPr>
              <a:t>Opportunity</a:t>
            </a:r>
          </a:p>
        </p:txBody>
      </p:sp>
      <p:sp>
        <p:nvSpPr>
          <p:cNvPr id="6" name="object 7" descr="Beige rectangle">
            <a:extLst>
              <a:ext uri="{FF2B5EF4-FFF2-40B4-BE49-F238E27FC236}">
                <a16:creationId xmlns:a16="http://schemas.microsoft.com/office/drawing/2014/main" id="{B36975AA-C62E-46BE-9382-E2CF56FDF817}"/>
              </a:ext>
            </a:extLst>
          </p:cNvPr>
          <p:cNvSpPr/>
          <p:nvPr/>
        </p:nvSpPr>
        <p:spPr>
          <a:xfrm>
            <a:off x="3108000" y="3229869"/>
            <a:ext cx="5976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Man talks by phone">
            <a:extLst>
              <a:ext uri="{FF2B5EF4-FFF2-40B4-BE49-F238E27FC236}">
                <a16:creationId xmlns:a16="http://schemas.microsoft.com/office/drawing/2014/main" id="{2894B736-0F24-454E-8A9D-717EB78697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2" y="4665"/>
            <a:ext cx="6991350" cy="6848669"/>
          </a:xfrm>
          <a:prstGeom prst="rect">
            <a:avLst/>
          </a:prstGeom>
        </p:spPr>
      </p:pic>
      <p:sp>
        <p:nvSpPr>
          <p:cNvPr id="5" name="object 3" descr="Beige rectangle">
            <a:extLst>
              <a:ext uri="{FF2B5EF4-FFF2-40B4-BE49-F238E27FC236}">
                <a16:creationId xmlns:a16="http://schemas.microsoft.com/office/drawing/2014/main" id="{DCF29767-6635-4A46-AB77-672CC90C6FBE}"/>
              </a:ext>
            </a:extLst>
          </p:cNvPr>
          <p:cNvSpPr/>
          <p:nvPr/>
        </p:nvSpPr>
        <p:spPr>
          <a:xfrm>
            <a:off x="4768645" y="2541366"/>
            <a:ext cx="7285703" cy="4311968"/>
          </a:xfrm>
          <a:custGeom>
            <a:avLst/>
            <a:gdLst/>
            <a:ahLst/>
            <a:cxnLst/>
            <a:rect l="l" t="t" r="r" b="b"/>
            <a:pathLst>
              <a:path w="4010659" h="333375">
                <a:moveTo>
                  <a:pt x="0" y="333006"/>
                </a:moveTo>
                <a:lnTo>
                  <a:pt x="4010367" y="333006"/>
                </a:lnTo>
                <a:lnTo>
                  <a:pt x="4010367" y="0"/>
                </a:lnTo>
                <a:lnTo>
                  <a:pt x="0" y="0"/>
                </a:lnTo>
                <a:lnTo>
                  <a:pt x="0" y="333006"/>
                </a:lnTo>
                <a:close/>
              </a:path>
            </a:pathLst>
          </a:custGeom>
          <a:solidFill>
            <a:schemeClr val="accent1"/>
          </a:solidFill>
        </p:spPr>
        <p:txBody>
          <a:bodyPr wrap="square" lIns="0" tIns="0" rIns="0" bIns="0" rtlCol="0"/>
          <a:lstStyle/>
          <a:p>
            <a:r>
              <a:rPr lang="en-US" dirty="0" err="1"/>
              <a:t>jj</a:t>
            </a:r>
            <a:endParaRPr lang="en-US" dirty="0"/>
          </a:p>
        </p:txBody>
      </p:sp>
      <p:sp>
        <p:nvSpPr>
          <p:cNvPr id="6" name="object 6" descr="Blue rectangle">
            <a:extLst>
              <a:ext uri="{FF2B5EF4-FFF2-40B4-BE49-F238E27FC236}">
                <a16:creationId xmlns:a16="http://schemas.microsoft.com/office/drawing/2014/main" id="{9FABC344-E043-45BE-8588-06C658DBCE70}"/>
              </a:ext>
            </a:extLst>
          </p:cNvPr>
          <p:cNvSpPr/>
          <p:nvPr/>
        </p:nvSpPr>
        <p:spPr>
          <a:xfrm>
            <a:off x="4310960" y="0"/>
            <a:ext cx="7157884" cy="3342968"/>
          </a:xfrm>
          <a:custGeom>
            <a:avLst/>
            <a:gdLst/>
            <a:ahLst/>
            <a:cxnLst/>
            <a:rect l="l" t="t" r="r" b="b"/>
            <a:pathLst>
              <a:path w="6689725" h="3528060">
                <a:moveTo>
                  <a:pt x="0" y="3527996"/>
                </a:moveTo>
                <a:lnTo>
                  <a:pt x="6689648" y="3527996"/>
                </a:lnTo>
                <a:lnTo>
                  <a:pt x="6689648" y="0"/>
                </a:lnTo>
                <a:lnTo>
                  <a:pt x="0" y="0"/>
                </a:lnTo>
                <a:lnTo>
                  <a:pt x="0" y="3527996"/>
                </a:lnTo>
                <a:close/>
              </a:path>
            </a:pathLst>
          </a:custGeom>
          <a:solidFill>
            <a:schemeClr val="accent2"/>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345C5720-51D4-4632-91CD-936B8AB96750}"/>
              </a:ext>
            </a:extLst>
          </p:cNvPr>
          <p:cNvSpPr>
            <a:spLocks noGrp="1"/>
          </p:cNvSpPr>
          <p:nvPr>
            <p:ph type="title"/>
          </p:nvPr>
        </p:nvSpPr>
        <p:spPr>
          <a:xfrm>
            <a:off x="4601634" y="122560"/>
            <a:ext cx="5165558" cy="833856"/>
          </a:xfrm>
        </p:spPr>
        <p:txBody>
          <a:bodyPr>
            <a:normAutofit/>
          </a:bodyPr>
          <a:lstStyle/>
          <a:p>
            <a:r>
              <a:rPr lang="en-US" sz="4000" dirty="0">
                <a:solidFill>
                  <a:schemeClr val="bg1"/>
                </a:solidFill>
              </a:rPr>
              <a:t>Our Main Problems</a:t>
            </a:r>
            <a:endParaRPr lang="en-US" sz="4000" dirty="0">
              <a:latin typeface="Gill Sans MT" panose="020B0502020104020203" pitchFamily="34" charset="0"/>
            </a:endParaRPr>
          </a:p>
        </p:txBody>
      </p:sp>
      <p:sp>
        <p:nvSpPr>
          <p:cNvPr id="3" name="Slide Number Placeholder 2">
            <a:extLst>
              <a:ext uri="{FF2B5EF4-FFF2-40B4-BE49-F238E27FC236}">
                <a16:creationId xmlns:a16="http://schemas.microsoft.com/office/drawing/2014/main" id="{24D506CC-0185-443E-82C7-1600C21D6E91}"/>
              </a:ext>
            </a:extLst>
          </p:cNvPr>
          <p:cNvSpPr>
            <a:spLocks noGrp="1"/>
          </p:cNvSpPr>
          <p:nvPr>
            <p:ph type="sldNum" sz="quarter" idx="12"/>
          </p:nvPr>
        </p:nvSpPr>
        <p:spPr/>
        <p:txBody>
          <a:bodyPr/>
          <a:lstStyle/>
          <a:p>
            <a:fld id="{82EE24B5-652C-4DB5-B7C3-B5BBEC1280B1}" type="slidenum">
              <a:rPr lang="en-US" smtClean="0"/>
              <a:t>2</a:t>
            </a:fld>
            <a:endParaRPr lang="en-US" dirty="0"/>
          </a:p>
        </p:txBody>
      </p:sp>
      <p:sp>
        <p:nvSpPr>
          <p:cNvPr id="7" name="object 9" descr="Beige rectangle">
            <a:extLst>
              <a:ext uri="{FF2B5EF4-FFF2-40B4-BE49-F238E27FC236}">
                <a16:creationId xmlns:a16="http://schemas.microsoft.com/office/drawing/2014/main" id="{02C6628C-972C-4717-AAF3-D882B30F6658}"/>
              </a:ext>
            </a:extLst>
          </p:cNvPr>
          <p:cNvSpPr/>
          <p:nvPr/>
        </p:nvSpPr>
        <p:spPr>
          <a:xfrm flipV="1">
            <a:off x="4601634" y="846392"/>
            <a:ext cx="4927266" cy="66212"/>
          </a:xfrm>
          <a:custGeom>
            <a:avLst/>
            <a:gdLst/>
            <a:ahLst/>
            <a:cxnLst/>
            <a:rect l="l" t="t" r="r" b="b"/>
            <a:pathLst>
              <a:path w="2642870">
                <a:moveTo>
                  <a:pt x="0" y="0"/>
                </a:moveTo>
                <a:lnTo>
                  <a:pt x="2642616" y="0"/>
                </a:lnTo>
              </a:path>
            </a:pathLst>
          </a:custGeom>
          <a:ln w="54863">
            <a:solidFill>
              <a:schemeClr val="accent1"/>
            </a:solidFill>
          </a:ln>
        </p:spPr>
        <p:txBody>
          <a:bodyPr wrap="square" lIns="0" tIns="0" rIns="0" bIns="0" rtlCol="0"/>
          <a:lstStyle/>
          <a:p>
            <a:endParaRPr lang="en-US" dirty="0"/>
          </a:p>
        </p:txBody>
      </p:sp>
      <p:sp>
        <p:nvSpPr>
          <p:cNvPr id="9" name="Content Placeholder 3">
            <a:extLst>
              <a:ext uri="{FF2B5EF4-FFF2-40B4-BE49-F238E27FC236}">
                <a16:creationId xmlns:a16="http://schemas.microsoft.com/office/drawing/2014/main" id="{E7A818AB-B120-41D5-88A6-933AB9CAAE68}"/>
              </a:ext>
            </a:extLst>
          </p:cNvPr>
          <p:cNvSpPr txBox="1">
            <a:spLocks/>
          </p:cNvSpPr>
          <p:nvPr/>
        </p:nvSpPr>
        <p:spPr>
          <a:xfrm>
            <a:off x="4395315" y="1124330"/>
            <a:ext cx="5928853" cy="189678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spc="-25" dirty="0">
                <a:solidFill>
                  <a:schemeClr val="bg2">
                    <a:lumMod val="20000"/>
                    <a:lumOff val="80000"/>
                  </a:schemeClr>
                </a:solidFill>
                <a:latin typeface="Arial"/>
                <a:cs typeface="Arial"/>
              </a:rPr>
              <a:t>Most businesses get 300+ Emails per day but lack a system that can sort and prioritize them ,This is time consuming and resulting in them  manually  sorting them in hours. </a:t>
            </a:r>
          </a:p>
        </p:txBody>
      </p:sp>
      <p:sp>
        <p:nvSpPr>
          <p:cNvPr id="8" name="TextBox 7">
            <a:extLst>
              <a:ext uri="{FF2B5EF4-FFF2-40B4-BE49-F238E27FC236}">
                <a16:creationId xmlns:a16="http://schemas.microsoft.com/office/drawing/2014/main" id="{A4DB082F-A3F5-7B09-3265-584C46297005}"/>
              </a:ext>
            </a:extLst>
          </p:cNvPr>
          <p:cNvSpPr txBox="1"/>
          <p:nvPr/>
        </p:nvSpPr>
        <p:spPr>
          <a:xfrm>
            <a:off x="4865768" y="3284167"/>
            <a:ext cx="3253035" cy="707886"/>
          </a:xfrm>
          <a:prstGeom prst="rect">
            <a:avLst/>
          </a:prstGeom>
          <a:noFill/>
        </p:spPr>
        <p:txBody>
          <a:bodyPr wrap="square" rtlCol="0">
            <a:spAutoFit/>
          </a:bodyPr>
          <a:lstStyle/>
          <a:p>
            <a:r>
              <a:rPr lang="en-US" sz="4000" dirty="0">
                <a:latin typeface="Aptos Black" panose="020F0502020204030204" pitchFamily="34" charset="0"/>
              </a:rPr>
              <a:t>Our Solution</a:t>
            </a:r>
          </a:p>
        </p:txBody>
      </p:sp>
      <p:sp>
        <p:nvSpPr>
          <p:cNvPr id="10" name="TextBox 9">
            <a:extLst>
              <a:ext uri="{FF2B5EF4-FFF2-40B4-BE49-F238E27FC236}">
                <a16:creationId xmlns:a16="http://schemas.microsoft.com/office/drawing/2014/main" id="{91A87350-7D7C-93B9-FCAF-327FEDA596D6}"/>
              </a:ext>
            </a:extLst>
          </p:cNvPr>
          <p:cNvSpPr txBox="1"/>
          <p:nvPr/>
        </p:nvSpPr>
        <p:spPr>
          <a:xfrm>
            <a:off x="4865768" y="4066800"/>
            <a:ext cx="5683045" cy="2462213"/>
          </a:xfrm>
          <a:prstGeom prst="rect">
            <a:avLst/>
          </a:prstGeom>
          <a:noFill/>
        </p:spPr>
        <p:txBody>
          <a:bodyPr wrap="square" rtlCol="0">
            <a:spAutoFit/>
          </a:bodyPr>
          <a:lstStyle/>
          <a:p>
            <a:pPr marL="457200" indent="-457200">
              <a:buAutoNum type="arabicPeriod"/>
            </a:pPr>
            <a:r>
              <a:rPr lang="en-US" sz="2000" b="1" dirty="0"/>
              <a:t>Sorting and Structure: </a:t>
            </a:r>
            <a:r>
              <a:rPr lang="en-US" dirty="0"/>
              <a:t>We made a (Emails) display window that displays unorganized (Emails) which are sorted by Email ID, Name, Gmail, Date, Subjects.</a:t>
            </a:r>
          </a:p>
          <a:p>
            <a:pPr marL="342900" indent="-342900">
              <a:buAutoNum type="arabicPeriod"/>
            </a:pPr>
            <a:r>
              <a:rPr lang="en-US" sz="2000" b="1" dirty="0"/>
              <a:t> Chat Integration: </a:t>
            </a:r>
            <a:r>
              <a:rPr lang="en-US" sz="2000" dirty="0"/>
              <a:t>This feature allows the user to be able to save time from opening and reading the Email them selves from start to finish.</a:t>
            </a:r>
            <a:endParaRPr lang="en-US" sz="2000" b="1" dirty="0"/>
          </a:p>
        </p:txBody>
      </p:sp>
    </p:spTree>
    <p:extLst>
      <p:ext uri="{BB962C8B-B14F-4D97-AF65-F5344CB8AC3E}">
        <p14:creationId xmlns:p14="http://schemas.microsoft.com/office/powerpoint/2010/main" val="1793949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7D87B918-371C-4B31-9C7A-1D9A08C8A3B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A277388B-76FD-44C4-B506-F8A157E57C65}"/>
              </a:ext>
            </a:extLst>
          </p:cNvPr>
          <p:cNvSpPr/>
          <p:nvPr/>
        </p:nvSpPr>
        <p:spPr>
          <a:xfrm>
            <a:off x="-902168" y="0"/>
            <a:ext cx="13684103"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1191A09B-8CB4-416A-B1F9-ABC3B476DE1F}"/>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D00B79-44BB-4D5F-B51D-2270A854D77A}"/>
              </a:ext>
            </a:extLst>
          </p:cNvPr>
          <p:cNvSpPr>
            <a:spLocks noGrp="1"/>
          </p:cNvSpPr>
          <p:nvPr>
            <p:ph type="title"/>
          </p:nvPr>
        </p:nvSpPr>
        <p:spPr>
          <a:xfrm>
            <a:off x="2693909" y="302234"/>
            <a:ext cx="5309549" cy="1325563"/>
          </a:xfrm>
        </p:spPr>
        <p:txBody>
          <a:bodyPr/>
          <a:lstStyle/>
          <a:p>
            <a:r>
              <a:rPr lang="en-US" dirty="0">
                <a:solidFill>
                  <a:schemeClr val="bg1"/>
                </a:solidFill>
              </a:rPr>
              <a:t>How was AI used:</a:t>
            </a:r>
            <a:endParaRPr lang="en-US" dirty="0"/>
          </a:p>
        </p:txBody>
      </p:sp>
      <p:sp>
        <p:nvSpPr>
          <p:cNvPr id="5" name="Slide Number Placeholder 4">
            <a:extLst>
              <a:ext uri="{FF2B5EF4-FFF2-40B4-BE49-F238E27FC236}">
                <a16:creationId xmlns:a16="http://schemas.microsoft.com/office/drawing/2014/main" id="{CDF3C1EE-D9A0-406A-9A3A-75C82527E0DC}"/>
              </a:ext>
            </a:extLst>
          </p:cNvPr>
          <p:cNvSpPr>
            <a:spLocks noGrp="1"/>
          </p:cNvSpPr>
          <p:nvPr>
            <p:ph type="sldNum" sz="quarter" idx="12"/>
          </p:nvPr>
        </p:nvSpPr>
        <p:spPr/>
        <p:txBody>
          <a:bodyPr/>
          <a:lstStyle/>
          <a:p>
            <a:fld id="{82EE24B5-652C-4DB5-B7C3-B5BBEC1280B1}" type="slidenum">
              <a:rPr lang="en-US" smtClean="0"/>
              <a:t>3</a:t>
            </a:fld>
            <a:endParaRPr lang="en-US" dirty="0"/>
          </a:p>
        </p:txBody>
      </p:sp>
      <p:sp>
        <p:nvSpPr>
          <p:cNvPr id="11" name="object 5" descr="Beige rectangle">
            <a:extLst>
              <a:ext uri="{FF2B5EF4-FFF2-40B4-BE49-F238E27FC236}">
                <a16:creationId xmlns:a16="http://schemas.microsoft.com/office/drawing/2014/main" id="{B07BA1F9-2C19-4C07-B29B-18B9FBCC4755}"/>
              </a:ext>
            </a:extLst>
          </p:cNvPr>
          <p:cNvSpPr/>
          <p:nvPr/>
        </p:nvSpPr>
        <p:spPr>
          <a:xfrm>
            <a:off x="2261290" y="1466460"/>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cxnSp>
        <p:nvCxnSpPr>
          <p:cNvPr id="10" name="Straight Connector 9" descr="Line">
            <a:extLst>
              <a:ext uri="{FF2B5EF4-FFF2-40B4-BE49-F238E27FC236}">
                <a16:creationId xmlns:a16="http://schemas.microsoft.com/office/drawing/2014/main" id="{4C3F4FC5-0C01-4592-9483-D476EA2BDF93}"/>
              </a:ext>
            </a:extLst>
          </p:cNvPr>
          <p:cNvCxnSpPr/>
          <p:nvPr/>
        </p:nvCxnSpPr>
        <p:spPr>
          <a:xfrm>
            <a:off x="6096000" y="4124378"/>
            <a:ext cx="0" cy="396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D3F5CCF-A51D-1502-1329-C4A1EB1339C9}"/>
              </a:ext>
            </a:extLst>
          </p:cNvPr>
          <p:cNvSpPr txBox="1"/>
          <p:nvPr/>
        </p:nvSpPr>
        <p:spPr>
          <a:xfrm>
            <a:off x="825910" y="1930031"/>
            <a:ext cx="8534401" cy="2492990"/>
          </a:xfrm>
          <a:prstGeom prst="rect">
            <a:avLst/>
          </a:prstGeom>
          <a:noFill/>
        </p:spPr>
        <p:txBody>
          <a:bodyPr wrap="square" rtlCol="0">
            <a:spAutoFit/>
          </a:bodyPr>
          <a:lstStyle/>
          <a:p>
            <a:pPr algn="ctr"/>
            <a:r>
              <a:rPr lang="en-US" sz="2400" dirty="0">
                <a:highlight>
                  <a:srgbClr val="008080"/>
                </a:highlight>
              </a:rPr>
              <a:t>Ai was used for our chatbot to interact with the user by sorting Summarizing and finding as well as answer any question that’s not related to the Email straightforward for example it can explain words a user is not familiar this includes the drafting of emails </a:t>
            </a:r>
          </a:p>
          <a:p>
            <a:endParaRPr lang="en-US" dirty="0"/>
          </a:p>
          <a:p>
            <a:endParaRPr lang="en-US" dirty="0"/>
          </a:p>
        </p:txBody>
      </p:sp>
    </p:spTree>
    <p:extLst>
      <p:ext uri="{BB962C8B-B14F-4D97-AF65-F5344CB8AC3E}">
        <p14:creationId xmlns:p14="http://schemas.microsoft.com/office/powerpoint/2010/main" val="2263215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8AF702-A859-4D49-823E-455702872718}"/>
              </a:ext>
            </a:extLst>
          </p:cNvPr>
          <p:cNvSpPr>
            <a:spLocks noGrp="1"/>
          </p:cNvSpPr>
          <p:nvPr>
            <p:ph type="sldNum" sz="quarter" idx="12"/>
          </p:nvPr>
        </p:nvSpPr>
        <p:spPr/>
        <p:txBody>
          <a:bodyPr/>
          <a:lstStyle/>
          <a:p>
            <a:fld id="{82EE24B5-652C-4DB5-B7C3-B5BBEC1280B1}" type="slidenum">
              <a:rPr lang="en-US" smtClean="0"/>
              <a:t>4</a:t>
            </a:fld>
            <a:endParaRPr lang="en-US" dirty="0"/>
          </a:p>
        </p:txBody>
      </p:sp>
      <p:sp>
        <p:nvSpPr>
          <p:cNvPr id="3" name="Title 2">
            <a:extLst>
              <a:ext uri="{FF2B5EF4-FFF2-40B4-BE49-F238E27FC236}">
                <a16:creationId xmlns:a16="http://schemas.microsoft.com/office/drawing/2014/main" id="{6D5D9271-B659-4A45-8868-BAEC4EF7D1F1}"/>
              </a:ext>
            </a:extLst>
          </p:cNvPr>
          <p:cNvSpPr>
            <a:spLocks noGrp="1"/>
          </p:cNvSpPr>
          <p:nvPr>
            <p:ph type="title"/>
          </p:nvPr>
        </p:nvSpPr>
        <p:spPr>
          <a:xfrm>
            <a:off x="820410" y="361567"/>
            <a:ext cx="10515600" cy="1325563"/>
          </a:xfrm>
        </p:spPr>
        <p:txBody>
          <a:bodyPr>
            <a:normAutofit/>
          </a:bodyPr>
          <a:lstStyle/>
          <a:p>
            <a:r>
              <a:rPr lang="en-US" dirty="0"/>
              <a:t>How can we improve?</a:t>
            </a:r>
          </a:p>
        </p:txBody>
      </p:sp>
      <p:sp>
        <p:nvSpPr>
          <p:cNvPr id="29" name="object 27" descr="Beige rectangle">
            <a:extLst>
              <a:ext uri="{FF2B5EF4-FFF2-40B4-BE49-F238E27FC236}">
                <a16:creationId xmlns:a16="http://schemas.microsoft.com/office/drawing/2014/main" id="{CE178D24-EC15-4677-8CE4-B6FAE887C7CE}"/>
              </a:ext>
            </a:extLst>
          </p:cNvPr>
          <p:cNvSpPr/>
          <p:nvPr/>
        </p:nvSpPr>
        <p:spPr>
          <a:xfrm flipV="1">
            <a:off x="976912" y="1283991"/>
            <a:ext cx="4058977" cy="45719"/>
          </a:xfrm>
          <a:custGeom>
            <a:avLst/>
            <a:gdLst/>
            <a:ahLst/>
            <a:cxnLst/>
            <a:rect l="l" t="t" r="r" b="b"/>
            <a:pathLst>
              <a:path w="2501265">
                <a:moveTo>
                  <a:pt x="0" y="0"/>
                </a:moveTo>
                <a:lnTo>
                  <a:pt x="2500883" y="0"/>
                </a:lnTo>
              </a:path>
            </a:pathLst>
          </a:custGeom>
          <a:ln w="54863">
            <a:solidFill>
              <a:schemeClr val="accent1"/>
            </a:solidFill>
          </a:ln>
        </p:spPr>
        <p:txBody>
          <a:bodyPr wrap="square" lIns="0" tIns="0" rIns="0" bIns="0" rtlCol="0"/>
          <a:lstStyle/>
          <a:p>
            <a:endParaRPr lang="en-US" dirty="0"/>
          </a:p>
        </p:txBody>
      </p:sp>
      <p:cxnSp>
        <p:nvCxnSpPr>
          <p:cNvPr id="6" name="Straight Connector 5" descr="Line">
            <a:extLst>
              <a:ext uri="{FF2B5EF4-FFF2-40B4-BE49-F238E27FC236}">
                <a16:creationId xmlns:a16="http://schemas.microsoft.com/office/drawing/2014/main" id="{5C0E71B8-1D2B-4965-B2E2-9D9AD54201BD}"/>
              </a:ext>
            </a:extLst>
          </p:cNvPr>
          <p:cNvCxnSpPr>
            <a:cxnSpLocks/>
          </p:cNvCxnSpPr>
          <p:nvPr/>
        </p:nvCxnSpPr>
        <p:spPr>
          <a:xfrm>
            <a:off x="5035890" y="1844675"/>
            <a:ext cx="0" cy="1763713"/>
          </a:xfrm>
          <a:prstGeom prst="line">
            <a:avLst/>
          </a:prstGeom>
          <a:ln w="3175">
            <a:solidFill>
              <a:schemeClr val="bg2">
                <a:lumMod val="20000"/>
                <a:lumOff val="80000"/>
                <a:alpha val="25000"/>
              </a:schemeClr>
            </a:solidFill>
          </a:ln>
        </p:spPr>
        <p:style>
          <a:lnRef idx="1">
            <a:schemeClr val="accent1"/>
          </a:lnRef>
          <a:fillRef idx="0">
            <a:schemeClr val="accent1"/>
          </a:fillRef>
          <a:effectRef idx="0">
            <a:schemeClr val="accent1"/>
          </a:effectRef>
          <a:fontRef idx="minor">
            <a:schemeClr val="tx1"/>
          </a:fontRef>
        </p:style>
      </p:cxnSp>
      <p:pic>
        <p:nvPicPr>
          <p:cNvPr id="26" name="Content Placeholder 25" descr="Smiling hospital staff">
            <a:extLst>
              <a:ext uri="{FF2B5EF4-FFF2-40B4-BE49-F238E27FC236}">
                <a16:creationId xmlns:a16="http://schemas.microsoft.com/office/drawing/2014/main" id="{2DAB8FD7-FE1B-3934-C1FF-D23588A6C00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0" y="3927038"/>
            <a:ext cx="11169441" cy="3053865"/>
          </a:xfrm>
        </p:spPr>
      </p:pic>
      <p:sp>
        <p:nvSpPr>
          <p:cNvPr id="11" name="TextBox 10">
            <a:extLst>
              <a:ext uri="{FF2B5EF4-FFF2-40B4-BE49-F238E27FC236}">
                <a16:creationId xmlns:a16="http://schemas.microsoft.com/office/drawing/2014/main" id="{04B9265D-3623-5D4C-768F-848B9EC7E452}"/>
              </a:ext>
            </a:extLst>
          </p:cNvPr>
          <p:cNvSpPr txBox="1"/>
          <p:nvPr/>
        </p:nvSpPr>
        <p:spPr>
          <a:xfrm>
            <a:off x="570283" y="2005780"/>
            <a:ext cx="7767467" cy="1015663"/>
          </a:xfrm>
          <a:prstGeom prst="rect">
            <a:avLst/>
          </a:prstGeom>
          <a:noFill/>
        </p:spPr>
        <p:txBody>
          <a:bodyPr wrap="square" rtlCol="0">
            <a:spAutoFit/>
          </a:bodyPr>
          <a:lstStyle/>
          <a:p>
            <a:r>
              <a:rPr lang="en-US" sz="2000" dirty="0"/>
              <a:t>We can improve our App by connecting to slack /Teams for instant alert when a High-Priority email arrives, and add sentiments analysis to detect a angry clients.</a:t>
            </a:r>
          </a:p>
        </p:txBody>
      </p:sp>
    </p:spTree>
    <p:extLst>
      <p:ext uri="{BB962C8B-B14F-4D97-AF65-F5344CB8AC3E}">
        <p14:creationId xmlns:p14="http://schemas.microsoft.com/office/powerpoint/2010/main" val="3514470430"/>
      </p:ext>
    </p:extLst>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5022061_Professional services marketing plan_SL_V1" id="{B214D568-CC3C-4109-877A-D7A12976D35F}" vid="{D425069E-A49A-4A86-9A62-1864F0635A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2.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118CE8-9293-4220-BA3B-5D353B13ABC9}">
  <ds:schemaRefs>
    <ds:schemaRef ds:uri="http://www.w3.org/XML/1998/namespace"/>
    <ds:schemaRef ds:uri="http://schemas.microsoft.com/office/infopath/2007/PartnerControls"/>
    <ds:schemaRef ds:uri="71af3243-3dd4-4a8d-8c0d-dd76da1f02a5"/>
    <ds:schemaRef ds:uri="http://schemas.microsoft.com/office/2006/metadata/properties"/>
    <ds:schemaRef ds:uri="http://schemas.openxmlformats.org/package/2006/metadata/core-properties"/>
    <ds:schemaRef ds:uri="http://purl.org/dc/elements/1.1/"/>
    <ds:schemaRef ds:uri="http://schemas.microsoft.com/office/2006/documentManagement/types"/>
    <ds:schemaRef ds:uri="http://purl.org/dc/term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Professional services marketing plan</Template>
  <TotalTime>56</TotalTime>
  <Words>203</Words>
  <Application>Microsoft Office PowerPoint</Application>
  <PresentationFormat>Widescreen</PresentationFormat>
  <Paragraphs>19</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 Black</vt:lpstr>
      <vt:lpstr>Arial</vt:lpstr>
      <vt:lpstr>Arial </vt:lpstr>
      <vt:lpstr>Calibri</vt:lpstr>
      <vt:lpstr>Gill Sans MT</vt:lpstr>
      <vt:lpstr>Office Theme</vt:lpstr>
      <vt:lpstr>Pentagon Prime’s M@IL IT</vt:lpstr>
      <vt:lpstr>Our Main Problems</vt:lpstr>
      <vt:lpstr>How was AI used:</vt:lpstr>
      <vt:lpstr>How can we improve?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Phakeme Mchunu</dc:creator>
  <cp:lastModifiedBy>Phakeme Mchunu</cp:lastModifiedBy>
  <cp:revision>1</cp:revision>
  <dcterms:created xsi:type="dcterms:W3CDTF">2026-08-22T07:28:31Z</dcterms:created>
  <dcterms:modified xsi:type="dcterms:W3CDTF">2026-08-22T08:24:47Z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